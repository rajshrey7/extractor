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vo Black" panose="020B0604020202020204" charset="0"/>
      <p:regular r:id="rId10"/>
    </p:embeddedFont>
    <p:embeddedFont>
      <p:font typeface="Arial MT Pro" panose="020B0604020202020204" charset="0"/>
      <p:regular r:id="rId11"/>
    </p:embeddedFont>
    <p:embeddedFont>
      <p:font typeface="HK Grotesk" panose="020B0604020202020204" charset="0"/>
      <p:regular r:id="rId12"/>
    </p:embeddedFont>
    <p:embeddedFont>
      <p:font typeface="Nunito" pitchFamily="2" charset="0"/>
      <p:regular r:id="rId13"/>
    </p:embeddedFont>
    <p:embeddedFont>
      <p:font typeface="Open Sau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82D2F">
                <a:alpha val="100000"/>
              </a:srgbClr>
            </a:gs>
            <a:gs pos="100000">
              <a:srgbClr val="28949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1348756" y="2852850"/>
            <a:ext cx="2711833" cy="197291"/>
            <a:chOff x="0" y="0"/>
            <a:chExt cx="952142" cy="6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0334750" y="2293609"/>
            <a:ext cx="2711833" cy="197291"/>
            <a:chOff x="0" y="0"/>
            <a:chExt cx="952142" cy="692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87972" y="8752056"/>
            <a:ext cx="2669433" cy="194207"/>
            <a:chOff x="0" y="0"/>
            <a:chExt cx="952142" cy="69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93848" y="8121016"/>
            <a:ext cx="2669433" cy="194207"/>
            <a:chOff x="0" y="0"/>
            <a:chExt cx="952142" cy="692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21153" y="318601"/>
            <a:ext cx="2524933" cy="2524933"/>
          </a:xfrm>
          <a:custGeom>
            <a:avLst/>
            <a:gdLst/>
            <a:ahLst/>
            <a:cxnLst/>
            <a:rect l="l" t="t" r="r" b="b"/>
            <a:pathLst>
              <a:path w="2524933" h="2524933">
                <a:moveTo>
                  <a:pt x="0" y="0"/>
                </a:moveTo>
                <a:lnTo>
                  <a:pt x="2524933" y="0"/>
                </a:lnTo>
                <a:lnTo>
                  <a:pt x="2524933" y="2524934"/>
                </a:lnTo>
                <a:lnTo>
                  <a:pt x="0" y="25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3586365"/>
            <a:ext cx="16469314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15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OCR SYSTEM FOR TEXT EXTRACTION &amp; VERIFICATION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19400" y="650706"/>
            <a:ext cx="15833584" cy="2823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19"/>
              </a:lnSpc>
            </a:pPr>
            <a:r>
              <a:rPr lang="en-US" sz="8085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MOSIP Decode Hackathon</a:t>
            </a:r>
          </a:p>
          <a:p>
            <a:pPr algn="ctr">
              <a:lnSpc>
                <a:spcPts val="11319"/>
              </a:lnSpc>
              <a:spcBef>
                <a:spcPct val="0"/>
              </a:spcBef>
            </a:pPr>
            <a:endParaRPr lang="en-US" sz="8085" dirty="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58842" y="6080332"/>
            <a:ext cx="8670012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 Name (Registered on portal) 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Nirvana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68200" y="6080332"/>
            <a:ext cx="4214207" cy="1235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 leader 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 Shreyansh Raj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87200" y="7782094"/>
            <a:ext cx="5719489" cy="1854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 Member 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Ashish Kumar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Aditi Tripathi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20620" cy="10287000"/>
            <a:chOff x="0" y="0"/>
            <a:chExt cx="211455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4550" cy="2709333"/>
            </a:xfrm>
            <a:custGeom>
              <a:avLst/>
              <a:gdLst/>
              <a:ahLst/>
              <a:cxnLst/>
              <a:rect l="l" t="t" r="r" b="b"/>
              <a:pathLst>
                <a:path w="2114550" h="2709333">
                  <a:moveTo>
                    <a:pt x="0" y="0"/>
                  </a:moveTo>
                  <a:lnTo>
                    <a:pt x="2114550" y="0"/>
                  </a:lnTo>
                  <a:lnTo>
                    <a:pt x="211455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1455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61915" y="4337690"/>
            <a:ext cx="664227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761915" y="5928624"/>
            <a:ext cx="664227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761915" y="3149513"/>
            <a:ext cx="900317" cy="50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1915" y="4740447"/>
            <a:ext cx="900317" cy="50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2232" y="3149513"/>
            <a:ext cx="4215100" cy="58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Slow 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62232" y="4740447"/>
            <a:ext cx="4429767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High human error rate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47750"/>
            <a:ext cx="6746794" cy="146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2"/>
              </a:lnSpc>
            </a:pPr>
            <a:r>
              <a:rPr lang="en-US" sz="508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&amp; MOTIVATION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761915" y="7519558"/>
            <a:ext cx="664227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761915" y="9210838"/>
            <a:ext cx="664227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761915" y="6331381"/>
            <a:ext cx="900317" cy="50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62232" y="6331381"/>
            <a:ext cx="4698102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Bottlenecks during registration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1915" y="7922315"/>
            <a:ext cx="900317" cy="50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62232" y="7922315"/>
            <a:ext cx="5366450" cy="115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Major issues in identity systems like MOSIP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4709" y="914400"/>
            <a:ext cx="7362089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04189" y="2888884"/>
            <a:ext cx="833163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 Pre-processing &amp; OCR Extraction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82520" y="4801740"/>
            <a:ext cx="9556311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Field Detection &amp; Structured Data Mapping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24800" y="6766490"/>
            <a:ext cx="955631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Validation &amp; Quality Assurance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97597" y="8122808"/>
            <a:ext cx="955631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MOSIP Pre-Registration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38424"/>
            <a:ext cx="4994240" cy="1029446"/>
            <a:chOff x="0" y="0"/>
            <a:chExt cx="1695079" cy="349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5079" cy="349401"/>
            </a:xfrm>
            <a:custGeom>
              <a:avLst/>
              <a:gdLst/>
              <a:ahLst/>
              <a:cxnLst/>
              <a:rect l="l" t="t" r="r" b="b"/>
              <a:pathLst>
                <a:path w="1695079" h="349401">
                  <a:moveTo>
                    <a:pt x="13952" y="0"/>
                  </a:moveTo>
                  <a:lnTo>
                    <a:pt x="1681128" y="0"/>
                  </a:lnTo>
                  <a:cubicBezTo>
                    <a:pt x="1684828" y="0"/>
                    <a:pt x="1688377" y="1470"/>
                    <a:pt x="1690993" y="4086"/>
                  </a:cubicBezTo>
                  <a:cubicBezTo>
                    <a:pt x="1693610" y="6703"/>
                    <a:pt x="1695079" y="10251"/>
                    <a:pt x="1695079" y="13952"/>
                  </a:cubicBezTo>
                  <a:lnTo>
                    <a:pt x="1695079" y="335450"/>
                  </a:lnTo>
                  <a:cubicBezTo>
                    <a:pt x="1695079" y="343155"/>
                    <a:pt x="1688833" y="349401"/>
                    <a:pt x="1681128" y="349401"/>
                  </a:cubicBezTo>
                  <a:lnTo>
                    <a:pt x="13952" y="349401"/>
                  </a:lnTo>
                  <a:cubicBezTo>
                    <a:pt x="6246" y="349401"/>
                    <a:pt x="0" y="343155"/>
                    <a:pt x="0" y="335450"/>
                  </a:cubicBezTo>
                  <a:lnTo>
                    <a:pt x="0" y="13952"/>
                  </a:lnTo>
                  <a:cubicBezTo>
                    <a:pt x="0" y="6246"/>
                    <a:pt x="6246" y="0"/>
                    <a:pt x="139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95079" cy="406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7688" y="3228774"/>
            <a:ext cx="4633705" cy="1114979"/>
            <a:chOff x="0" y="0"/>
            <a:chExt cx="1572712" cy="378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2711" cy="378431"/>
            </a:xfrm>
            <a:custGeom>
              <a:avLst/>
              <a:gdLst/>
              <a:ahLst/>
              <a:cxnLst/>
              <a:rect l="l" t="t" r="r" b="b"/>
              <a:pathLst>
                <a:path w="1572711" h="378431">
                  <a:moveTo>
                    <a:pt x="15037" y="0"/>
                  </a:moveTo>
                  <a:lnTo>
                    <a:pt x="1557674" y="0"/>
                  </a:lnTo>
                  <a:cubicBezTo>
                    <a:pt x="1565979" y="0"/>
                    <a:pt x="1572711" y="6732"/>
                    <a:pt x="1572711" y="15037"/>
                  </a:cubicBezTo>
                  <a:lnTo>
                    <a:pt x="1572711" y="363394"/>
                  </a:lnTo>
                  <a:cubicBezTo>
                    <a:pt x="1572711" y="371699"/>
                    <a:pt x="1565979" y="378431"/>
                    <a:pt x="1557674" y="378431"/>
                  </a:cubicBezTo>
                  <a:lnTo>
                    <a:pt x="15037" y="378431"/>
                  </a:lnTo>
                  <a:cubicBezTo>
                    <a:pt x="6732" y="378431"/>
                    <a:pt x="0" y="371699"/>
                    <a:pt x="0" y="363394"/>
                  </a:cubicBezTo>
                  <a:lnTo>
                    <a:pt x="0" y="15037"/>
                  </a:lnTo>
                  <a:cubicBezTo>
                    <a:pt x="0" y="6732"/>
                    <a:pt x="6732" y="0"/>
                    <a:pt x="150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572712" cy="435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72450" y="1404322"/>
            <a:ext cx="11031689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5"/>
              </a:lnSpc>
            </a:pPr>
            <a:r>
              <a:rPr lang="en-US" sz="6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PROPOSED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503" y="3575347"/>
            <a:ext cx="4994692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Reactive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15133" y="3532580"/>
            <a:ext cx="4647753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Limited Visibility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631" y="4546718"/>
            <a:ext cx="4106379" cy="2770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Enhance brightness/contrast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Detect blur or glare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Support multi-page PDFs and images</a:t>
            </a:r>
          </a:p>
          <a:p>
            <a:pPr algn="l">
              <a:lnSpc>
                <a:spcPts val="2259"/>
              </a:lnSpc>
            </a:pPr>
            <a:endParaRPr lang="en-US" sz="3000" spc="-15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06195" y="4477613"/>
            <a:ext cx="5256691" cy="3265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PaddleOCR → printed content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TrOCR transformer → handwritten entries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Automatic language routing (Eng, Hin, Ara)</a:t>
            </a:r>
          </a:p>
          <a:p>
            <a:pPr marL="0" lvl="0" indent="0" algn="l">
              <a:lnSpc>
                <a:spcPts val="2259"/>
              </a:lnSpc>
              <a:spcBef>
                <a:spcPct val="0"/>
              </a:spcBef>
            </a:pPr>
            <a:endParaRPr lang="en-US" sz="3000" spc="-15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1517033" y="3195657"/>
            <a:ext cx="3433113" cy="1320055"/>
            <a:chOff x="0" y="0"/>
            <a:chExt cx="1165222" cy="4480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5222" cy="448036"/>
            </a:xfrm>
            <a:custGeom>
              <a:avLst/>
              <a:gdLst/>
              <a:ahLst/>
              <a:cxnLst/>
              <a:rect l="l" t="t" r="r" b="b"/>
              <a:pathLst>
                <a:path w="1165222" h="448036">
                  <a:moveTo>
                    <a:pt x="20296" y="0"/>
                  </a:moveTo>
                  <a:lnTo>
                    <a:pt x="1144927" y="0"/>
                  </a:lnTo>
                  <a:cubicBezTo>
                    <a:pt x="1150309" y="0"/>
                    <a:pt x="1155472" y="2138"/>
                    <a:pt x="1159278" y="5944"/>
                  </a:cubicBezTo>
                  <a:cubicBezTo>
                    <a:pt x="1163084" y="9751"/>
                    <a:pt x="1165222" y="14913"/>
                    <a:pt x="1165222" y="20296"/>
                  </a:cubicBezTo>
                  <a:lnTo>
                    <a:pt x="1165222" y="427740"/>
                  </a:lnTo>
                  <a:cubicBezTo>
                    <a:pt x="1165222" y="433123"/>
                    <a:pt x="1163084" y="438285"/>
                    <a:pt x="1159278" y="442091"/>
                  </a:cubicBezTo>
                  <a:cubicBezTo>
                    <a:pt x="1155472" y="445898"/>
                    <a:pt x="1150309" y="448036"/>
                    <a:pt x="1144927" y="448036"/>
                  </a:cubicBezTo>
                  <a:lnTo>
                    <a:pt x="20296" y="448036"/>
                  </a:lnTo>
                  <a:cubicBezTo>
                    <a:pt x="14913" y="448036"/>
                    <a:pt x="9751" y="445898"/>
                    <a:pt x="5944" y="442091"/>
                  </a:cubicBezTo>
                  <a:cubicBezTo>
                    <a:pt x="2138" y="438285"/>
                    <a:pt x="0" y="433123"/>
                    <a:pt x="0" y="427740"/>
                  </a:cubicBezTo>
                  <a:lnTo>
                    <a:pt x="0" y="20296"/>
                  </a:lnTo>
                  <a:cubicBezTo>
                    <a:pt x="0" y="14913"/>
                    <a:pt x="2138" y="9751"/>
                    <a:pt x="5944" y="5944"/>
                  </a:cubicBezTo>
                  <a:cubicBezTo>
                    <a:pt x="9751" y="2138"/>
                    <a:pt x="14913" y="0"/>
                    <a:pt x="202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65222" cy="50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53411" y="3354352"/>
            <a:ext cx="4101456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Manual Processes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7033" y="4682689"/>
            <a:ext cx="3884282" cy="3265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Field mapping using patterns &amp; semantic rules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Convert raw text into a clean JSON structure</a:t>
            </a:r>
          </a:p>
          <a:p>
            <a:pPr marL="0" lvl="0" indent="0" algn="l">
              <a:lnSpc>
                <a:spcPts val="2259"/>
              </a:lnSpc>
              <a:spcBef>
                <a:spcPct val="0"/>
              </a:spcBef>
            </a:pPr>
            <a:endParaRPr lang="en-US" sz="3000" spc="-15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5964067" y="0"/>
            <a:ext cx="2323933" cy="10287000"/>
            <a:chOff x="0" y="0"/>
            <a:chExt cx="612065" cy="27093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2065" cy="2709333"/>
            </a:xfrm>
            <a:custGeom>
              <a:avLst/>
              <a:gdLst/>
              <a:ahLst/>
              <a:cxnLst/>
              <a:rect l="l" t="t" r="r" b="b"/>
              <a:pathLst>
                <a:path w="612065" h="2709333">
                  <a:moveTo>
                    <a:pt x="0" y="0"/>
                  </a:moveTo>
                  <a:lnTo>
                    <a:pt x="612065" y="0"/>
                  </a:lnTo>
                  <a:lnTo>
                    <a:pt x="61206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612065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62896" y="7912268"/>
            <a:ext cx="4945198" cy="1026426"/>
            <a:chOff x="0" y="0"/>
            <a:chExt cx="1678434" cy="3483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78434" cy="348376"/>
            </a:xfrm>
            <a:custGeom>
              <a:avLst/>
              <a:gdLst/>
              <a:ahLst/>
              <a:cxnLst/>
              <a:rect l="l" t="t" r="r" b="b"/>
              <a:pathLst>
                <a:path w="1678434" h="348376">
                  <a:moveTo>
                    <a:pt x="14090" y="0"/>
                  </a:moveTo>
                  <a:lnTo>
                    <a:pt x="1664345" y="0"/>
                  </a:lnTo>
                  <a:cubicBezTo>
                    <a:pt x="1672126" y="0"/>
                    <a:pt x="1678434" y="6308"/>
                    <a:pt x="1678434" y="14090"/>
                  </a:cubicBezTo>
                  <a:lnTo>
                    <a:pt x="1678434" y="334286"/>
                  </a:lnTo>
                  <a:cubicBezTo>
                    <a:pt x="1678434" y="342068"/>
                    <a:pt x="1672126" y="348376"/>
                    <a:pt x="1664345" y="348376"/>
                  </a:cubicBezTo>
                  <a:lnTo>
                    <a:pt x="14090" y="348376"/>
                  </a:lnTo>
                  <a:cubicBezTo>
                    <a:pt x="6308" y="348376"/>
                    <a:pt x="0" y="342068"/>
                    <a:pt x="0" y="334286"/>
                  </a:cubicBezTo>
                  <a:lnTo>
                    <a:pt x="0" y="14090"/>
                  </a:lnTo>
                  <a:cubicBezTo>
                    <a:pt x="0" y="6308"/>
                    <a:pt x="6308" y="0"/>
                    <a:pt x="140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678434" cy="40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106195" y="8171799"/>
            <a:ext cx="480190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Verification Layer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16264" y="9119670"/>
            <a:ext cx="901732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Compare extracted values with expected format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Calculate per-field confidence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7392" y="3139219"/>
            <a:ext cx="3894604" cy="967786"/>
            <a:chOff x="0" y="0"/>
            <a:chExt cx="1321855" cy="3284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1855" cy="328473"/>
            </a:xfrm>
            <a:custGeom>
              <a:avLst/>
              <a:gdLst/>
              <a:ahLst/>
              <a:cxnLst/>
              <a:rect l="l" t="t" r="r" b="b"/>
              <a:pathLst>
                <a:path w="1321855" h="328473">
                  <a:moveTo>
                    <a:pt x="17891" y="0"/>
                  </a:moveTo>
                  <a:lnTo>
                    <a:pt x="1303965" y="0"/>
                  </a:lnTo>
                  <a:cubicBezTo>
                    <a:pt x="1308710" y="0"/>
                    <a:pt x="1313260" y="1885"/>
                    <a:pt x="1316615" y="5240"/>
                  </a:cubicBezTo>
                  <a:cubicBezTo>
                    <a:pt x="1319970" y="8595"/>
                    <a:pt x="1321855" y="13146"/>
                    <a:pt x="1321855" y="17891"/>
                  </a:cubicBezTo>
                  <a:lnTo>
                    <a:pt x="1321855" y="310583"/>
                  </a:lnTo>
                  <a:cubicBezTo>
                    <a:pt x="1321855" y="320463"/>
                    <a:pt x="1313845" y="328473"/>
                    <a:pt x="1303965" y="328473"/>
                  </a:cubicBezTo>
                  <a:lnTo>
                    <a:pt x="17891" y="328473"/>
                  </a:lnTo>
                  <a:cubicBezTo>
                    <a:pt x="8010" y="328473"/>
                    <a:pt x="0" y="320463"/>
                    <a:pt x="0" y="310583"/>
                  </a:cubicBezTo>
                  <a:lnTo>
                    <a:pt x="0" y="17891"/>
                  </a:lnTo>
                  <a:cubicBezTo>
                    <a:pt x="0" y="8010"/>
                    <a:pt x="8010" y="0"/>
                    <a:pt x="178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21855" cy="376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8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65326" y="3116216"/>
            <a:ext cx="4230984" cy="967786"/>
            <a:chOff x="0" y="0"/>
            <a:chExt cx="1436025" cy="3284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6025" cy="328473"/>
            </a:xfrm>
            <a:custGeom>
              <a:avLst/>
              <a:gdLst/>
              <a:ahLst/>
              <a:cxnLst/>
              <a:rect l="l" t="t" r="r" b="b"/>
              <a:pathLst>
                <a:path w="1436025" h="328473">
                  <a:moveTo>
                    <a:pt x="16468" y="0"/>
                  </a:moveTo>
                  <a:lnTo>
                    <a:pt x="1419557" y="0"/>
                  </a:lnTo>
                  <a:cubicBezTo>
                    <a:pt x="1428652" y="0"/>
                    <a:pt x="1436025" y="7373"/>
                    <a:pt x="1436025" y="16468"/>
                  </a:cubicBezTo>
                  <a:lnTo>
                    <a:pt x="1436025" y="312005"/>
                  </a:lnTo>
                  <a:cubicBezTo>
                    <a:pt x="1436025" y="321100"/>
                    <a:pt x="1428652" y="328473"/>
                    <a:pt x="1419557" y="328473"/>
                  </a:cubicBezTo>
                  <a:lnTo>
                    <a:pt x="16468" y="328473"/>
                  </a:lnTo>
                  <a:cubicBezTo>
                    <a:pt x="7373" y="328473"/>
                    <a:pt x="0" y="321100"/>
                    <a:pt x="0" y="312005"/>
                  </a:cubicBezTo>
                  <a:lnTo>
                    <a:pt x="0" y="16468"/>
                  </a:lnTo>
                  <a:cubicBezTo>
                    <a:pt x="0" y="7373"/>
                    <a:pt x="7373" y="0"/>
                    <a:pt x="164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36025" cy="376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8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86214" y="6926700"/>
            <a:ext cx="3894604" cy="967786"/>
            <a:chOff x="0" y="0"/>
            <a:chExt cx="1321855" cy="3284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1855" cy="328473"/>
            </a:xfrm>
            <a:custGeom>
              <a:avLst/>
              <a:gdLst/>
              <a:ahLst/>
              <a:cxnLst/>
              <a:rect l="l" t="t" r="r" b="b"/>
              <a:pathLst>
                <a:path w="1321855" h="328473">
                  <a:moveTo>
                    <a:pt x="17891" y="0"/>
                  </a:moveTo>
                  <a:lnTo>
                    <a:pt x="1303965" y="0"/>
                  </a:lnTo>
                  <a:cubicBezTo>
                    <a:pt x="1308710" y="0"/>
                    <a:pt x="1313260" y="1885"/>
                    <a:pt x="1316615" y="5240"/>
                  </a:cubicBezTo>
                  <a:cubicBezTo>
                    <a:pt x="1319970" y="8595"/>
                    <a:pt x="1321855" y="13146"/>
                    <a:pt x="1321855" y="17891"/>
                  </a:cubicBezTo>
                  <a:lnTo>
                    <a:pt x="1321855" y="310583"/>
                  </a:lnTo>
                  <a:cubicBezTo>
                    <a:pt x="1321855" y="320463"/>
                    <a:pt x="1313845" y="328473"/>
                    <a:pt x="1303965" y="328473"/>
                  </a:cubicBezTo>
                  <a:lnTo>
                    <a:pt x="17891" y="328473"/>
                  </a:lnTo>
                  <a:cubicBezTo>
                    <a:pt x="8010" y="328473"/>
                    <a:pt x="0" y="320463"/>
                    <a:pt x="0" y="310583"/>
                  </a:cubicBezTo>
                  <a:lnTo>
                    <a:pt x="0" y="17891"/>
                  </a:lnTo>
                  <a:cubicBezTo>
                    <a:pt x="0" y="8010"/>
                    <a:pt x="8010" y="0"/>
                    <a:pt x="178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21855" cy="376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8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7093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915987" y="2440247"/>
            <a:ext cx="7343313" cy="7343313"/>
          </a:xfrm>
          <a:custGeom>
            <a:avLst/>
            <a:gdLst/>
            <a:ahLst/>
            <a:cxnLst/>
            <a:rect l="l" t="t" r="r" b="b"/>
            <a:pathLst>
              <a:path w="7343313" h="7343313">
                <a:moveTo>
                  <a:pt x="0" y="0"/>
                </a:moveTo>
                <a:lnTo>
                  <a:pt x="7343313" y="0"/>
                </a:lnTo>
                <a:lnTo>
                  <a:pt x="7343313" y="7343312"/>
                </a:lnTo>
                <a:lnTo>
                  <a:pt x="0" y="734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37392" y="1134687"/>
            <a:ext cx="13107199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5"/>
              </a:lnSpc>
            </a:pPr>
            <a:r>
              <a:rPr lang="en-US" sz="6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SYSTEM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6630" y="3391512"/>
            <a:ext cx="2976127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17968" y="3414515"/>
            <a:ext cx="4128663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 (FastAPI)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5563" y="4386433"/>
            <a:ext cx="4318262" cy="19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Upload PDFs/images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Preview extracted text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Edit or correct fields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View confidence indicator</a:t>
            </a:r>
          </a:p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endParaRPr lang="en-US" sz="2499" spc="-12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069222" y="4153743"/>
            <a:ext cx="4733197" cy="286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OCR engines (PaddleOCR + TrOCR)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Quality evaluation module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Field matching and validation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MOSIP Pre-Reg compatible data model</a:t>
            </a: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endParaRPr lang="en-US" sz="2499" spc="-12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05587" y="7201996"/>
            <a:ext cx="3394439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Outputs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14302" y="8037362"/>
            <a:ext cx="4977011" cy="19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Structured JSON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Confidence map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Capture quality rating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2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Packet-ready data for MOSIP</a:t>
            </a:r>
          </a:p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endParaRPr lang="en-US" sz="2499" spc="-12">
              <a:solidFill>
                <a:srgbClr val="343434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5" y="9049907"/>
            <a:ext cx="18277775" cy="1237093"/>
            <a:chOff x="0" y="0"/>
            <a:chExt cx="4813900" cy="325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3900" cy="325819"/>
            </a:xfrm>
            <a:custGeom>
              <a:avLst/>
              <a:gdLst/>
              <a:ahLst/>
              <a:cxnLst/>
              <a:rect l="l" t="t" r="r" b="b"/>
              <a:pathLst>
                <a:path w="4813900" h="325819">
                  <a:moveTo>
                    <a:pt x="0" y="0"/>
                  </a:moveTo>
                  <a:lnTo>
                    <a:pt x="4813900" y="0"/>
                  </a:lnTo>
                  <a:lnTo>
                    <a:pt x="4813900" y="325819"/>
                  </a:lnTo>
                  <a:lnTo>
                    <a:pt x="0" y="325819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3900" cy="382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89153" y="2745684"/>
            <a:ext cx="11329046" cy="692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Dual OCR pipeline for printed + handwritten text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Supports multiple languages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Real-time confidence overlays on the document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Blur, lighting, and clarity scoring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Automatic structuring of fields (name, DOB, ID, address…)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Multi-page PDF handling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Compatible with MOSIP Pre-Registration API schema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339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455298" y="1028700"/>
            <a:ext cx="7832702" cy="8021207"/>
          </a:xfrm>
          <a:custGeom>
            <a:avLst/>
            <a:gdLst/>
            <a:ahLst/>
            <a:cxnLst/>
            <a:rect l="l" t="t" r="r" b="b"/>
            <a:pathLst>
              <a:path w="7832702" h="8021207">
                <a:moveTo>
                  <a:pt x="0" y="0"/>
                </a:moveTo>
                <a:lnTo>
                  <a:pt x="7832702" y="0"/>
                </a:lnTo>
                <a:lnTo>
                  <a:pt x="7832702" y="8021207"/>
                </a:lnTo>
                <a:lnTo>
                  <a:pt x="0" y="802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91" t="-4469" r="-99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88419" y="1248470"/>
            <a:ext cx="8773902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5"/>
              </a:lnSpc>
            </a:pPr>
            <a:r>
              <a:rPr lang="en-US" sz="6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5" y="9183665"/>
            <a:ext cx="18277775" cy="1128192"/>
            <a:chOff x="0" y="0"/>
            <a:chExt cx="4813900" cy="297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3900" cy="297137"/>
            </a:xfrm>
            <a:custGeom>
              <a:avLst/>
              <a:gdLst/>
              <a:ahLst/>
              <a:cxnLst/>
              <a:rect l="l" t="t" r="r" b="b"/>
              <a:pathLst>
                <a:path w="4813900" h="297137">
                  <a:moveTo>
                    <a:pt x="0" y="0"/>
                  </a:moveTo>
                  <a:lnTo>
                    <a:pt x="4813900" y="0"/>
                  </a:lnTo>
                  <a:lnTo>
                    <a:pt x="4813900" y="297137"/>
                  </a:lnTo>
                  <a:lnTo>
                    <a:pt x="0" y="297137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3900" cy="35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3769" y="3297254"/>
            <a:ext cx="10149379" cy="5433383"/>
            <a:chOff x="0" y="0"/>
            <a:chExt cx="3444769" cy="184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44769" cy="1844128"/>
            </a:xfrm>
            <a:custGeom>
              <a:avLst/>
              <a:gdLst/>
              <a:ahLst/>
              <a:cxnLst/>
              <a:rect l="l" t="t" r="r" b="b"/>
              <a:pathLst>
                <a:path w="3444769" h="1844128">
                  <a:moveTo>
                    <a:pt x="6865" y="0"/>
                  </a:moveTo>
                  <a:lnTo>
                    <a:pt x="3437904" y="0"/>
                  </a:lnTo>
                  <a:cubicBezTo>
                    <a:pt x="3441696" y="0"/>
                    <a:pt x="3444769" y="3074"/>
                    <a:pt x="3444769" y="6865"/>
                  </a:cubicBezTo>
                  <a:lnTo>
                    <a:pt x="3444769" y="1837263"/>
                  </a:lnTo>
                  <a:cubicBezTo>
                    <a:pt x="3444769" y="1841054"/>
                    <a:pt x="3441696" y="1844128"/>
                    <a:pt x="3437904" y="1844128"/>
                  </a:cubicBezTo>
                  <a:lnTo>
                    <a:pt x="6865" y="1844128"/>
                  </a:lnTo>
                  <a:cubicBezTo>
                    <a:pt x="3074" y="1844128"/>
                    <a:pt x="0" y="1841054"/>
                    <a:pt x="0" y="1837263"/>
                  </a:cubicBezTo>
                  <a:lnTo>
                    <a:pt x="0" y="6865"/>
                  </a:lnTo>
                  <a:cubicBezTo>
                    <a:pt x="0" y="3074"/>
                    <a:pt x="3074" y="0"/>
                    <a:pt x="6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444769" cy="1891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  <a:p>
              <a:pPr marL="0" lvl="0" indent="0" algn="ctr">
                <a:lnSpc>
                  <a:spcPts val="358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538747" y="1028700"/>
            <a:ext cx="7749253" cy="8154965"/>
          </a:xfrm>
          <a:custGeom>
            <a:avLst/>
            <a:gdLst/>
            <a:ahLst/>
            <a:cxnLst/>
            <a:rect l="l" t="t" r="r" b="b"/>
            <a:pathLst>
              <a:path w="7749253" h="8154965">
                <a:moveTo>
                  <a:pt x="0" y="0"/>
                </a:moveTo>
                <a:lnTo>
                  <a:pt x="7749253" y="0"/>
                </a:lnTo>
                <a:lnTo>
                  <a:pt x="7749253" y="8154965"/>
                </a:lnTo>
                <a:lnTo>
                  <a:pt x="0" y="8154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9" r="-283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71508" y="1009984"/>
            <a:ext cx="8773902" cy="186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5"/>
              </a:lnSpc>
            </a:pPr>
            <a:r>
              <a:rPr lang="en-US" sz="6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 &amp; PERFORMANCE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747925"/>
            <a:ext cx="2756111" cy="658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Accuracy</a:t>
            </a:r>
          </a:p>
          <a:p>
            <a:pPr algn="l">
              <a:lnSpc>
                <a:spcPts val="2271"/>
              </a:lnSpc>
            </a:pPr>
            <a:endParaRPr lang="en-US" sz="2499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106183"/>
            <a:ext cx="2756111" cy="101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Processing Time</a:t>
            </a:r>
          </a:p>
          <a:p>
            <a:pPr algn="l">
              <a:lnSpc>
                <a:spcPts val="2271"/>
              </a:lnSpc>
            </a:pPr>
            <a:endParaRPr lang="en-US" sz="2499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787649"/>
            <a:ext cx="2756111" cy="101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Quality Assessment</a:t>
            </a:r>
          </a:p>
          <a:p>
            <a:pPr algn="l">
              <a:lnSpc>
                <a:spcPts val="2271"/>
              </a:lnSpc>
            </a:pPr>
            <a:endParaRPr lang="en-US" sz="2499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817925" y="3678320"/>
            <a:ext cx="5352102" cy="14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Printed text: 95%+</a:t>
            </a:r>
          </a:p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Handwritten text: 70–90% depending on legibility</a:t>
            </a:r>
          </a:p>
          <a:p>
            <a:pPr algn="l">
              <a:lnSpc>
                <a:spcPts val="1593"/>
              </a:lnSpc>
            </a:pPr>
            <a:r>
              <a:rPr lang="en-US" sz="14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>
              <a:lnSpc>
                <a:spcPts val="1593"/>
              </a:lnSpc>
            </a:pPr>
            <a:endParaRPr lang="en-US" sz="141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817925" y="5012824"/>
            <a:ext cx="5352102" cy="177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PaddleOCR: ~3 sec</a:t>
            </a:r>
          </a:p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TrOCR: ~4–5 sec</a:t>
            </a:r>
          </a:p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Full document (multi-page): under 7 seconds</a:t>
            </a:r>
          </a:p>
          <a:p>
            <a:pPr algn="l">
              <a:lnSpc>
                <a:spcPts val="2824"/>
              </a:lnSpc>
            </a:pPr>
            <a:endParaRPr lang="en-US" sz="2499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17925" y="6837340"/>
            <a:ext cx="5352102" cy="177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Successfully identifies blurry, dark, or low-quality captures</a:t>
            </a:r>
          </a:p>
          <a:p>
            <a:pPr marL="539749" lvl="1" indent="-269875" algn="l">
              <a:lnSpc>
                <a:spcPts val="28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Helps the user retake poor scans before extraction</a:t>
            </a:r>
          </a:p>
          <a:p>
            <a:pPr algn="l">
              <a:lnSpc>
                <a:spcPts val="2824"/>
              </a:lnSpc>
            </a:pPr>
            <a:endParaRPr lang="en-US" sz="2499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5" y="9258300"/>
            <a:ext cx="18277775" cy="1215755"/>
            <a:chOff x="0" y="0"/>
            <a:chExt cx="4813900" cy="3201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3900" cy="320199"/>
            </a:xfrm>
            <a:custGeom>
              <a:avLst/>
              <a:gdLst/>
              <a:ahLst/>
              <a:cxnLst/>
              <a:rect l="l" t="t" r="r" b="b"/>
              <a:pathLst>
                <a:path w="4813900" h="320199">
                  <a:moveTo>
                    <a:pt x="0" y="0"/>
                  </a:moveTo>
                  <a:lnTo>
                    <a:pt x="4813900" y="0"/>
                  </a:lnTo>
                  <a:lnTo>
                    <a:pt x="4813900" y="320199"/>
                  </a:lnTo>
                  <a:lnTo>
                    <a:pt x="0" y="320199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3900" cy="37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4371" y="575945"/>
            <a:ext cx="11152178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5"/>
              </a:lnSpc>
            </a:pPr>
            <a:r>
              <a:rPr lang="en-US" sz="6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IMPACT &amp; CONCLUSION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4371" y="1979543"/>
            <a:ext cx="14110546" cy="5446401"/>
            <a:chOff x="0" y="0"/>
            <a:chExt cx="4789216" cy="18485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9216" cy="1848546"/>
            </a:xfrm>
            <a:custGeom>
              <a:avLst/>
              <a:gdLst/>
              <a:ahLst/>
              <a:cxnLst/>
              <a:rect l="l" t="t" r="r" b="b"/>
              <a:pathLst>
                <a:path w="4789216" h="1848546">
                  <a:moveTo>
                    <a:pt x="4938" y="0"/>
                  </a:moveTo>
                  <a:lnTo>
                    <a:pt x="4784278" y="0"/>
                  </a:lnTo>
                  <a:cubicBezTo>
                    <a:pt x="4785588" y="0"/>
                    <a:pt x="4786844" y="520"/>
                    <a:pt x="4787770" y="1446"/>
                  </a:cubicBezTo>
                  <a:cubicBezTo>
                    <a:pt x="4788696" y="2372"/>
                    <a:pt x="4789216" y="3628"/>
                    <a:pt x="4789216" y="4938"/>
                  </a:cubicBezTo>
                  <a:lnTo>
                    <a:pt x="4789216" y="1843608"/>
                  </a:lnTo>
                  <a:cubicBezTo>
                    <a:pt x="4789216" y="1844918"/>
                    <a:pt x="4788696" y="1846174"/>
                    <a:pt x="4787770" y="1847100"/>
                  </a:cubicBezTo>
                  <a:cubicBezTo>
                    <a:pt x="4786844" y="1848026"/>
                    <a:pt x="4785588" y="1848546"/>
                    <a:pt x="4784278" y="1848546"/>
                  </a:cubicBezTo>
                  <a:lnTo>
                    <a:pt x="4938" y="1848546"/>
                  </a:lnTo>
                  <a:cubicBezTo>
                    <a:pt x="3628" y="1848546"/>
                    <a:pt x="2372" y="1848026"/>
                    <a:pt x="1446" y="1847100"/>
                  </a:cubicBezTo>
                  <a:cubicBezTo>
                    <a:pt x="520" y="1846174"/>
                    <a:pt x="0" y="1844918"/>
                    <a:pt x="0" y="1843608"/>
                  </a:cubicBezTo>
                  <a:lnTo>
                    <a:pt x="0" y="4938"/>
                  </a:lnTo>
                  <a:cubicBezTo>
                    <a:pt x="0" y="3628"/>
                    <a:pt x="520" y="2372"/>
                    <a:pt x="1446" y="1446"/>
                  </a:cubicBezTo>
                  <a:cubicBezTo>
                    <a:pt x="2372" y="520"/>
                    <a:pt x="3628" y="0"/>
                    <a:pt x="49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1F4E4F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9216" cy="1896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8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4371" y="2207194"/>
            <a:ext cx="13359885" cy="495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Reduces manual data entry by up to 80%</a:t>
            </a:r>
          </a:p>
          <a:p>
            <a:pPr algn="l">
              <a:lnSpc>
                <a:spcPts val="3900"/>
              </a:lnSpc>
            </a:pPr>
            <a:endParaRPr lang="en-US" sz="3000" spc="-15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Minimizes errors during form filling</a:t>
            </a:r>
          </a:p>
          <a:p>
            <a:pPr algn="l">
              <a:lnSpc>
                <a:spcPts val="3900"/>
              </a:lnSpc>
            </a:pPr>
            <a:endParaRPr lang="en-US" sz="3000" spc="-15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Makes registration smoother and more reliable</a:t>
            </a:r>
          </a:p>
          <a:p>
            <a:pPr algn="l">
              <a:lnSpc>
                <a:spcPts val="3900"/>
              </a:lnSpc>
            </a:pPr>
            <a:endParaRPr lang="en-US" sz="3000" spc="-15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Enables inclusion for citizens using handwritten or mixed-language documents</a:t>
            </a:r>
          </a:p>
          <a:p>
            <a:pPr algn="l">
              <a:lnSpc>
                <a:spcPts val="3900"/>
              </a:lnSpc>
            </a:pPr>
            <a:endParaRPr lang="en-US" sz="3000" spc="-15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5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Generates MOSIP-compliant data for hassle-free integration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endParaRPr lang="en-US" sz="3000" spc="-15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4371" y="7556074"/>
            <a:ext cx="17117747" cy="1486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  <a:p>
            <a:pPr algn="l">
              <a:lnSpc>
                <a:spcPts val="3447"/>
              </a:lnSpc>
              <a:spcBef>
                <a:spcPct val="0"/>
              </a:spcBef>
            </a:pPr>
            <a:r>
              <a:rPr lang="en-US" sz="246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 lightweight, offline-friendly, multi-OCR system that streamlines document processing and strengthens digital identity workflows — especially for MOSIP deployments.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7093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46556" y="3298825"/>
            <a:ext cx="6533600" cy="348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365</Words>
  <Application>Microsoft Office PowerPoint</Application>
  <PresentationFormat>Custom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 MT Pro</vt:lpstr>
      <vt:lpstr>Calibri</vt:lpstr>
      <vt:lpstr>Arial</vt:lpstr>
      <vt:lpstr>Archivo Black</vt:lpstr>
      <vt:lpstr>Nunito</vt:lpstr>
      <vt:lpstr>HK Grotesk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Green White Gradient Technology Keynote Presentation</dc:title>
  <cp:lastModifiedBy>Shreyansh Raj</cp:lastModifiedBy>
  <cp:revision>3</cp:revision>
  <dcterms:created xsi:type="dcterms:W3CDTF">2006-08-16T00:00:00Z</dcterms:created>
  <dcterms:modified xsi:type="dcterms:W3CDTF">2025-11-30T18:32:28Z</dcterms:modified>
  <dc:identifier>DAG6Lrk8APE</dc:identifier>
</cp:coreProperties>
</file>